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3"/>
    <p:sldId id="272" r:id="rId4"/>
    <p:sldId id="258" r:id="rId5"/>
    <p:sldId id="260" r:id="rId6"/>
    <p:sldId id="261" r:id="rId7"/>
    <p:sldId id="262" r:id="rId8"/>
    <p:sldId id="263" r:id="rId9"/>
    <p:sldId id="264" r:id="rId10"/>
    <p:sldId id="265"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175" indent="-384175"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jpe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31606"/>
            <a:ext cx="9601200" cy="5724832"/>
          </a:xfrm>
        </p:spPr>
        <p:txBody>
          <a:bodyPr>
            <a:normAutofit fontScale="90000"/>
          </a:bodyPr>
          <a:lstStyle/>
          <a:p>
            <a:pPr algn="ct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r>
              <a:rPr lang="en-US" sz="4000" dirty="0">
                <a:latin typeface="Times New Roman" panose="02020503050405090304" pitchFamily="18" charset="0"/>
                <a:cs typeface="Times New Roman" panose="02020503050405090304" pitchFamily="18" charset="0"/>
              </a:rPr>
              <a:t>VAAGDEVI ENGINEERING COLLEGE</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 </a:t>
            </a:r>
            <a:r>
              <a:rPr lang="en-US" sz="1800" dirty="0">
                <a:latin typeface="Times New Roman" panose="02020503050405090304" pitchFamily="18" charset="0"/>
                <a:cs typeface="Times New Roman" panose="02020503050405090304" pitchFamily="18" charset="0"/>
              </a:rPr>
              <a:t>AFFILIATED TO JNTUH, Hyderabad</a:t>
            </a:r>
            <a:br>
              <a:rPr lang="en-US" sz="1800" dirty="0">
                <a:latin typeface="Times New Roman" panose="02020503050405090304" pitchFamily="18" charset="0"/>
                <a:cs typeface="Times New Roman" panose="02020503050405090304" pitchFamily="18" charset="0"/>
              </a:rPr>
            </a:br>
            <a:r>
              <a:rPr lang="en-US" sz="1800" dirty="0">
                <a:latin typeface="Times New Roman" panose="02020503050405090304" pitchFamily="18" charset="0"/>
                <a:cs typeface="Times New Roman" panose="02020503050405090304" pitchFamily="18" charset="0"/>
              </a:rPr>
              <a:t>BOLLIKUNTA,WARANGAL(T.S)-505005  </a:t>
            </a:r>
            <a:br>
              <a:rPr lang="en-US" sz="18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r>
              <a:rPr lang="en-US" sz="1555" dirty="0">
                <a:latin typeface="Times New Roman" panose="02020503050405090304" pitchFamily="18" charset="0"/>
                <a:cs typeface="Times New Roman" panose="02020503050405090304" pitchFamily="18" charset="0"/>
              </a:rPr>
              <a:t>MAJOR </a:t>
            </a:r>
            <a:r>
              <a:rPr lang="en-US" sz="1600" dirty="0">
                <a:latin typeface="Times New Roman" panose="02020503050405090304" pitchFamily="18" charset="0"/>
                <a:cs typeface="Times New Roman" panose="02020503050405090304" pitchFamily="18" charset="0"/>
              </a:rPr>
              <a:t>PROJECT  REPORT</a:t>
            </a:r>
            <a:br>
              <a:rPr lang="en-US" sz="16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r>
              <a:rPr lang="en-US" sz="2700" b="1" dirty="0">
                <a:latin typeface="Times New Roman" panose="02020503050405090304" pitchFamily="18" charset="0"/>
                <a:cs typeface="Times New Roman" panose="02020503050405090304" pitchFamily="18" charset="0"/>
              </a:rPr>
              <a:t>AGE AND GENDER DETECTION USING DEEP LEARNING</a:t>
            </a:r>
            <a:br>
              <a:rPr lang="en-US" sz="2700" dirty="0">
                <a:latin typeface="Times New Roman" panose="02020503050405090304" pitchFamily="18" charset="0"/>
                <a:cs typeface="Times New Roman" panose="02020503050405090304" pitchFamily="18" charset="0"/>
              </a:rPr>
            </a:br>
            <a:r>
              <a:rPr lang="en-IN" sz="2000" dirty="0">
                <a:latin typeface="Times New Roman" panose="02020503050405090304" pitchFamily="18" charset="0"/>
                <a:cs typeface="Times New Roman" panose="02020503050405090304" pitchFamily="18" charset="0"/>
              </a:rPr>
              <a:t>Under the Guidance of</a:t>
            </a:r>
            <a:br>
              <a:rPr lang="en-IN" sz="2000" dirty="0">
                <a:latin typeface="Times New Roman" panose="02020503050405090304" pitchFamily="18" charset="0"/>
                <a:cs typeface="Times New Roman" panose="02020503050405090304" pitchFamily="18" charset="0"/>
              </a:rPr>
            </a:br>
            <a:r>
              <a:rPr lang="en-IN" sz="2200" dirty="0">
                <a:latin typeface="Times New Roman" panose="02020503050405090304" pitchFamily="18" charset="0"/>
                <a:cs typeface="Times New Roman" panose="02020503050405090304" pitchFamily="18" charset="0"/>
              </a:rPr>
              <a:t>Mrs. R. Swathi</a:t>
            </a:r>
            <a:br>
              <a:rPr lang="en-US" sz="36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Presented by</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ERRABOINA SHESHIKUMAR   (21UK1A6614)</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BODDIREDDY NIDHIREDDY    (21UK1A6658)</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ADABOINA SHIVA                       (21UK1A6646)</a:t>
            </a:r>
            <a:br>
              <a:rPr lang="en-US" sz="2000" dirty="0">
                <a:latin typeface="Times New Roman" panose="02020503050405090304" pitchFamily="18" charset="0"/>
                <a:cs typeface="Times New Roman" panose="02020503050405090304" pitchFamily="18" charset="0"/>
              </a:rPr>
            </a:br>
            <a:r>
              <a:rPr lang="en-US" sz="2000">
                <a:latin typeface="Times New Roman" panose="02020503050405090304" pitchFamily="18" charset="0"/>
                <a:cs typeface="Times New Roman" panose="02020503050405090304" pitchFamily="18" charset="0"/>
              </a:rPr>
              <a:t>SAKINALA  SAI PRIYA                </a:t>
            </a:r>
            <a:r>
              <a:rPr lang="en-US" sz="2000" dirty="0">
                <a:latin typeface="Times New Roman" panose="02020503050405090304" pitchFamily="18" charset="0"/>
                <a:cs typeface="Times New Roman" panose="02020503050405090304" pitchFamily="18" charset="0"/>
              </a:rPr>
              <a:t>(21UK1A6629)</a:t>
            </a:r>
            <a:br>
              <a:rPr lang="en-US" sz="3600" dirty="0"/>
            </a:br>
            <a:br>
              <a:rPr lang="en-US" sz="3600" dirty="0">
                <a:latin typeface="Times New Roman" panose="02020503050405090304" pitchFamily="18" charset="0"/>
                <a:cs typeface="Times New Roman" panose="02020503050405090304" pitchFamily="18" charset="0"/>
              </a:rPr>
            </a:br>
            <a:br>
              <a:rPr lang="en-US" sz="1800" dirty="0">
                <a:latin typeface="Times New Roman" panose="02020503050405090304" pitchFamily="18" charset="0"/>
                <a:cs typeface="Times New Roman" panose="02020503050405090304" pitchFamily="18" charset="0"/>
              </a:rPr>
            </a:br>
            <a:br>
              <a:rPr lang="en-US" sz="2000" dirty="0">
                <a:latin typeface="Times New Roman" panose="02020503050405090304" pitchFamily="18" charset="0"/>
                <a:cs typeface="Times New Roman" panose="02020503050405090304" pitchFamily="18" charset="0"/>
              </a:rPr>
            </a:br>
            <a:br>
              <a:rPr lang="en-US" sz="2000" b="1" dirty="0"/>
            </a:br>
            <a:br>
              <a:rPr lang="en-IN" sz="4400" dirty="0"/>
            </a:br>
            <a:endParaRPr lang="en-IN" dirty="0"/>
          </a:p>
        </p:txBody>
      </p:sp>
      <p:pic>
        <p:nvPicPr>
          <p:cNvPr id="7" name="Picture 6"/>
          <p:cNvPicPr>
            <a:picLocks noChangeAspect="1"/>
          </p:cNvPicPr>
          <p:nvPr/>
        </p:nvPicPr>
        <p:blipFill>
          <a:blip r:embed="rId1"/>
          <a:stretch>
            <a:fillRect/>
          </a:stretch>
        </p:blipFill>
        <p:spPr>
          <a:xfrm>
            <a:off x="4817115" y="0"/>
            <a:ext cx="2557770" cy="2162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600" y="685800"/>
            <a:ext cx="9601200" cy="396875"/>
          </a:xfrm>
        </p:spPr>
        <p:txBody>
          <a:bodyPr>
            <a:noAutofit/>
          </a:bodyPr>
          <a:p>
            <a:pPr algn="ctr"/>
            <a:r>
              <a:rPr lang="en-US">
                <a:latin typeface="Times New Roman Regular" panose="02020503050405090304" charset="0"/>
                <a:cs typeface="Times New Roman Regular" panose="02020503050405090304" charset="0"/>
              </a:rPr>
              <a:t>ABSTRACT</a:t>
            </a:r>
            <a:endParaRPr lang="en-US">
              <a:latin typeface="Times New Roman Regular" panose="02020503050405090304" charset="0"/>
              <a:cs typeface="Times New Roman Regular" panose="02020503050405090304" charset="0"/>
            </a:endParaRPr>
          </a:p>
        </p:txBody>
      </p:sp>
      <p:sp>
        <p:nvSpPr>
          <p:cNvPr id="3" name="Content Placeholder 2"/>
          <p:cNvSpPr>
            <a:spLocks noGrp="1"/>
          </p:cNvSpPr>
          <p:nvPr>
            <p:ph idx="1"/>
          </p:nvPr>
        </p:nvSpPr>
        <p:spPr>
          <a:xfrm>
            <a:off x="1371600" y="1872615"/>
            <a:ext cx="9601200" cy="2860040"/>
          </a:xfrm>
        </p:spPr>
        <p:txBody>
          <a:bodyPr/>
          <a:p>
            <a:r>
              <a:rPr lang="en-US" altLang="en-US">
                <a:latin typeface="Times New Roman Regular" panose="02020503050405090304" charset="0"/>
                <a:cs typeface="Times New Roman Regular" panose="02020503050405090304" charset="0"/>
              </a:rPr>
              <a:t>Age and Gender detection from facial images. By leveraging large annotated datasets and techniques like transfer learning and data augmentation, the models achieve high accuracy in diverse conditions. </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The study compares various architectures, including VGG16 and ResNet, while addressing challenges such as model bias, ethical concerns, and the importance of diverse datasets for robust and fair predictions.</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Regular" panose="02020503050405090304" charset="0"/>
                <a:cs typeface="Times New Roman Regular" panose="02020503050405090304" charset="0"/>
              </a:rPr>
              <a:t>INTROD</a:t>
            </a:r>
            <a:r>
              <a:rPr lang="en-US" dirty="0">
                <a:latin typeface="Times New Roman" panose="02020503050405090304" pitchFamily="18" charset="0"/>
                <a:cs typeface="Times New Roman" panose="02020503050405090304" pitchFamily="18" charset="0"/>
              </a:rPr>
              <a:t>UCTION</a:t>
            </a:r>
            <a:r>
              <a:rPr lang="en-US" dirty="0"/>
              <a:t> </a:t>
            </a:r>
            <a:endParaRPr lang="en-IN" dirty="0"/>
          </a:p>
        </p:txBody>
      </p:sp>
      <p:sp>
        <p:nvSpPr>
          <p:cNvPr id="3" name="Content Placeholder 2"/>
          <p:cNvSpPr>
            <a:spLocks noGrp="1"/>
          </p:cNvSpPr>
          <p:nvPr>
            <p:ph idx="1"/>
          </p:nvPr>
        </p:nvSpPr>
        <p:spPr>
          <a:xfrm>
            <a:off x="1371600" y="1779639"/>
            <a:ext cx="9601200" cy="4087761"/>
          </a:xfrm>
        </p:spPr>
        <p:txBody>
          <a:bodyPr>
            <a:normAutofit/>
          </a:bodyPr>
          <a:lstStyle/>
          <a:p>
            <a:pPr marL="0" indent="0">
              <a:buNone/>
            </a:pPr>
            <a:r>
              <a:rPr lang="en-US" sz="2400" b="1" dirty="0">
                <a:latin typeface="Times New Roman" panose="02020503050405090304" pitchFamily="18" charset="0"/>
                <a:cs typeface="Times New Roman" panose="02020503050405090304" pitchFamily="18" charset="0"/>
              </a:rPr>
              <a:t>    What is Age and Gender Detection?</a:t>
            </a:r>
            <a:endParaRPr lang="en-US" sz="2400" b="1" dirty="0">
              <a:latin typeface="Times New Roman" panose="02020503050405090304" pitchFamily="18" charset="0"/>
              <a:cs typeface="Times New Roman" panose="02020503050405090304" pitchFamily="18" charset="0"/>
            </a:endParaRPr>
          </a:p>
          <a:p>
            <a:r>
              <a:rPr lang="en-US" altLang="en-US" sz="1900" dirty="0">
                <a:latin typeface="Times New Roman" panose="02020503050405090304" pitchFamily="18" charset="0"/>
                <a:cs typeface="Times New Roman" panose="02020503050405090304" pitchFamily="18" charset="0"/>
              </a:rPr>
              <a:t>Age and gender detection refers to the process of identifying a person's age group and gender  based on visual cues, typically from facial images. This task is often achieved using machine learning and deep learning techniques, where models are trained on large datasets containing labeled images of faces with known age and gender information. </a:t>
            </a:r>
            <a:endParaRPr lang="en-US" altLang="en-US" sz="1900" dirty="0">
              <a:latin typeface="Times New Roman" panose="02020503050405090304" pitchFamily="18" charset="0"/>
              <a:cs typeface="Times New Roman" panose="02020503050405090304" pitchFamily="18" charset="0"/>
            </a:endParaRPr>
          </a:p>
          <a:p>
            <a:endParaRPr lang="en-US" altLang="en-US" sz="1900" dirty="0">
              <a:latin typeface="Times New Roman" panose="02020503050405090304" pitchFamily="18" charset="0"/>
              <a:cs typeface="Times New Roman" panose="02020503050405090304" pitchFamily="18" charset="0"/>
            </a:endParaRPr>
          </a:p>
          <a:p>
            <a:r>
              <a:rPr lang="en-US" altLang="en-US" sz="1900" dirty="0">
                <a:latin typeface="Times New Roman" panose="02020503050405090304" pitchFamily="18" charset="0"/>
                <a:cs typeface="Times New Roman" panose="02020503050405090304" pitchFamily="18" charset="0"/>
              </a:rPr>
              <a:t>In age detection, the model predicts the approximate age or age group of the individual. For gender detection, the model identifies whether the individual is male or female. These tasks are widely used in applications such as personalized marketing, security systems, healthcare, and human-computer interaction, helping to tailor services or interactions based on demographic characteristics.</a:t>
            </a:r>
            <a:endParaRPr lang="en-US" altLang="en-US" sz="1900" dirty="0">
              <a:latin typeface="Times New Roman" panose="02020503050405090304" pitchFamily="18" charset="0"/>
              <a:cs typeface="Times New Roman" panose="02020503050405090304" pitchFamily="18" charset="0"/>
            </a:endParaRPr>
          </a:p>
          <a:p>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Times New Roman" panose="02020503050405090304" pitchFamily="18" charset="0"/>
                <a:cs typeface="Times New Roman" panose="02020503050405090304" pitchFamily="18" charset="0"/>
              </a:rPr>
              <a:t>Why</a:t>
            </a:r>
            <a:r>
              <a:rPr lang="en-US" altLang="en-IN" dirty="0">
                <a:latin typeface="Times New Roman" panose="02020503050405090304" pitchFamily="18" charset="0"/>
                <a:cs typeface="Times New Roman" panose="02020503050405090304" pitchFamily="18" charset="0"/>
              </a:rPr>
              <a:t> </a:t>
            </a:r>
            <a:r>
              <a:rPr lang="en-IN" dirty="0">
                <a:latin typeface="Times New Roman" panose="02020503050405090304" pitchFamily="18" charset="0"/>
                <a:cs typeface="Times New Roman" panose="02020503050405090304" pitchFamily="18" charset="0"/>
              </a:rPr>
              <a:t>is</a:t>
            </a:r>
            <a:r>
              <a:rPr lang="en-US" altLang="en-IN" dirty="0">
                <a:latin typeface="Times New Roman" panose="02020503050405090304" pitchFamily="18" charset="0"/>
                <a:cs typeface="Times New Roman" panose="02020503050405090304" pitchFamily="18" charset="0"/>
              </a:rPr>
              <a:t> Age and Gender detection </a:t>
            </a:r>
            <a:r>
              <a:rPr lang="en-IN" dirty="0">
                <a:latin typeface="Times New Roman" panose="02020503050405090304" pitchFamily="18" charset="0"/>
                <a:cs typeface="Times New Roman" panose="02020503050405090304" pitchFamily="18" charset="0"/>
              </a:rPr>
              <a:t>Important?</a:t>
            </a:r>
            <a:endParaRPr lang="en-IN"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371600" y="1840865"/>
            <a:ext cx="9601200" cy="4697730"/>
          </a:xfrm>
        </p:spPr>
        <p:txBody>
          <a:bodyPr>
            <a:normAutofit/>
          </a:bodyPr>
          <a:lstStyle/>
          <a:p>
            <a:pPr marL="0" indent="0">
              <a:buNone/>
            </a:pPr>
            <a:endParaRPr lang="en-US" altLang="en-IN" dirty="0"/>
          </a:p>
          <a:p>
            <a:pPr marL="0" indent="0">
              <a:buNone/>
            </a:pPr>
            <a:endParaRPr lang="en-US" altLang="en-IN" dirty="0"/>
          </a:p>
          <a:p>
            <a:pPr marL="0" indent="0" algn="just">
              <a:buNone/>
            </a:pPr>
            <a:r>
              <a:rPr lang="en-US" altLang="en-IN" dirty="0">
                <a:latin typeface="Times New Roman Regular" panose="02020503050405090304" charset="0"/>
                <a:cs typeface="Times New Roman Regular" panose="02020503050405090304" charset="0"/>
              </a:rPr>
              <a:t> </a:t>
            </a:r>
            <a:r>
              <a:rPr lang="en-US" altLang="en-US" dirty="0">
                <a:latin typeface="Times New Roman Regular" panose="02020503050405090304" charset="0"/>
                <a:cs typeface="Times New Roman Regular" panose="02020503050405090304" charset="0"/>
              </a:rPr>
              <a:t>Age and gender detection is important because it enables personalized experiences in various applications like marketing, healthcare, and security. By accurately predicting a person's age and gender, businesses can tailor content and advertisements, healthcare providers can offer age-appropriate care, and security systems can enhance identity verification. Additionally, it plays a key role in improving user interactions in social media and human-computer interfaces.</a:t>
            </a:r>
            <a:endParaRPr lang="en-US" altLang="en-US" dirty="0">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93839"/>
          </a:xfrm>
        </p:spPr>
        <p:txBody>
          <a:bodyPr/>
          <a:lstStyle/>
          <a:p>
            <a:pPr algn="ctr"/>
            <a:r>
              <a:rPr lang="en-IN" dirty="0">
                <a:latin typeface="Times New Roman" panose="02020503050405090304" pitchFamily="18" charset="0"/>
                <a:cs typeface="Times New Roman" panose="02020503050405090304" pitchFamily="18" charset="0"/>
              </a:rPr>
              <a:t>Problem Statement</a:t>
            </a:r>
            <a:endParaRPr lang="en-IN" dirty="0">
              <a:latin typeface="Times New Roman" panose="02020503050405090304" pitchFamily="18" charset="0"/>
              <a:cs typeface="Times New Roman" panose="02020503050405090304" pitchFamily="18" charset="0"/>
            </a:endParaRPr>
          </a:p>
        </p:txBody>
      </p:sp>
      <p:sp>
        <p:nvSpPr>
          <p:cNvPr id="4" name="Rectangle 1"/>
          <p:cNvSpPr>
            <a:spLocks noGrp="1" noChangeArrowheads="1"/>
          </p:cNvSpPr>
          <p:nvPr>
            <p:ph idx="1"/>
          </p:nvPr>
        </p:nvSpPr>
        <p:spPr bwMode="auto">
          <a:xfrm>
            <a:off x="1209675" y="1779905"/>
            <a:ext cx="10697210"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9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Age and gender detection from images poses challenges due to diverse real-world conditions like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varying facial structures, lighting, and ethnic backgrounds. Traditional computer vision methods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struggle to generalize across these factors, leading to inaccuracies. Additionally, privacy concerns,</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ethical issues, and difficulties in handling ambiguous or non-binary gender representations complicate </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development of reliable, automated systems for age and gender detection.</a:t>
            </a:r>
            <a:endParaRPr kumimoji="0" lang="en-US" altLang="en-US"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71168"/>
            <a:ext cx="9601200" cy="631723"/>
          </a:xfrm>
        </p:spPr>
        <p:txBody>
          <a:bodyPr>
            <a:normAutofit fontScale="90000"/>
          </a:bodyPr>
          <a:lstStyle/>
          <a:p>
            <a:pPr algn="ctr"/>
            <a:r>
              <a:rPr lang="en-IN" dirty="0">
                <a:latin typeface="Times New Roman" panose="02020503050405090304" pitchFamily="18" charset="0"/>
                <a:cs typeface="Times New Roman" panose="02020503050405090304" pitchFamily="18" charset="0"/>
              </a:rPr>
              <a:t>Proposed Solution</a:t>
            </a:r>
            <a:endParaRPr lang="en-IN" dirty="0">
              <a:latin typeface="Times New Roman" panose="02020503050405090304" pitchFamily="18" charset="0"/>
              <a:cs typeface="Times New Roman" panose="02020503050405090304" pitchFamily="18" charset="0"/>
            </a:endParaRPr>
          </a:p>
        </p:txBody>
      </p:sp>
      <p:sp>
        <p:nvSpPr>
          <p:cNvPr id="5" name="Rectangle 2"/>
          <p:cNvSpPr>
            <a:spLocks noGrp="1" noChangeArrowheads="1"/>
          </p:cNvSpPr>
          <p:nvPr>
            <p:ph idx="1"/>
          </p:nvPr>
        </p:nvSpPr>
        <p:spPr bwMode="auto">
          <a:xfrm>
            <a:off x="1371600" y="910590"/>
            <a:ext cx="10594340" cy="539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None/>
            </a:pPr>
            <a:endParaRPr lang="en-US" altLang="en-US" b="1" dirty="0">
              <a:solidFill>
                <a:schemeClr val="tx1"/>
              </a:solidFill>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What We Propose</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A real-time </a:t>
            </a: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Age and Gender detection</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powered by deep learning to</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solidFill>
                  <a:schemeClr val="tx1"/>
                </a:solidFill>
                <a:latin typeface="Times New Roman" panose="02020503050405090304" pitchFamily="18" charset="0"/>
                <a:cs typeface="Times New Roman" panose="02020503050405090304" pitchFamily="18" charset="0"/>
              </a:rPr>
              <a:t>      </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provide age group and gender from facial images.</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How It Helps</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Regular" panose="02020503050405090304" charset="0"/>
                <a:cs typeface="Times New Roman Regular" panose="02020503050405090304" charset="0"/>
                <a:sym typeface="+mn-ea"/>
              </a:rPr>
              <a:t>  By accurately predicting a person's age and gender, businesses can tailor content and advertisements, healthcare providers can offer age-appropriate care, and security systems can enhance identity verification. Additionally, it plays a key role in improving user interactions in social media and human-computer interfaces.</a:t>
            </a:r>
            <a:endParaRPr lang="en-US" altLang="en-US" dirty="0">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Key Features of the Solution</a:t>
            </a: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1. Hybrid Model Architecture: </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This hybrid architecture eliminates the limitations of traditional RNN-based approaches,improving both the speed and accuracy of the system, while making it more robust in diverse conditions.</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2.Attention Mechanism:</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    The attention mechanism will be particularly useful in images with multiple people or complex backgrounds, as it will guide the model to focus only on the relevant facial features, improving both accuracy and contextual relevance.</a:t>
            </a:r>
            <a:endParaRPr kumimoji="0" lang="en-US" altLang="en-US"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07026"/>
          </a:xfrm>
        </p:spPr>
        <p:txBody>
          <a:bodyPr/>
          <a:lstStyle/>
          <a:p>
            <a:pPr algn="ctr"/>
            <a:r>
              <a:rPr lang="en-US" dirty="0">
                <a:latin typeface="Times New Roman" panose="02020503050405090304" pitchFamily="18" charset="0"/>
                <a:cs typeface="Times New Roman" panose="02020503050405090304" pitchFamily="18" charset="0"/>
              </a:rPr>
              <a:t>BLOCK DIAGRAM</a:t>
            </a:r>
            <a:endParaRPr lang="en-IN" dirty="0">
              <a:latin typeface="Times New Roman" panose="02020503050405090304" pitchFamily="18" charset="0"/>
              <a:cs typeface="Times New Roman" panose="02020503050405090304" pitchFamily="18" charset="0"/>
            </a:endParaRPr>
          </a:p>
        </p:txBody>
      </p:sp>
      <p:pic>
        <p:nvPicPr>
          <p:cNvPr id="4" name="Content Placeholder 3"/>
          <p:cNvPicPr>
            <a:picLocks noChangeAspect="1"/>
          </p:cNvPicPr>
          <p:nvPr>
            <p:ph idx="1"/>
          </p:nvPr>
        </p:nvPicPr>
        <p:blipFill>
          <a:blip r:embed="rId1"/>
          <a:stretch>
            <a:fillRect/>
          </a:stretch>
        </p:blipFill>
        <p:spPr>
          <a:xfrm>
            <a:off x="3496310" y="2102485"/>
            <a:ext cx="5351145" cy="3581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9922" y="272845"/>
            <a:ext cx="9601200" cy="680884"/>
          </a:xfrm>
        </p:spPr>
        <p:txBody>
          <a:bodyPr>
            <a:normAutofit fontScale="90000"/>
          </a:bodyPr>
          <a:lstStyle/>
          <a:p>
            <a:pPr algn="ctr"/>
            <a:r>
              <a:rPr lang="en-IN" dirty="0">
                <a:latin typeface="Times New Roman" panose="02020503050405090304" pitchFamily="18" charset="0"/>
                <a:cs typeface="Times New Roman" panose="02020503050405090304" pitchFamily="18" charset="0"/>
              </a:rPr>
              <a:t>Methodology</a:t>
            </a:r>
            <a:endParaRPr lang="en-IN" dirty="0">
              <a:latin typeface="Times New Roman" panose="02020503050405090304" pitchFamily="18" charset="0"/>
              <a:cs typeface="Times New Roman" panose="02020503050405090304" pitchFamily="18" charset="0"/>
            </a:endParaRPr>
          </a:p>
        </p:txBody>
      </p:sp>
      <p:sp>
        <p:nvSpPr>
          <p:cNvPr id="4" name="Rectangle 1"/>
          <p:cNvSpPr>
            <a:spLocks noGrp="1" noChangeArrowheads="1"/>
          </p:cNvSpPr>
          <p:nvPr>
            <p:ph idx="1"/>
          </p:nvPr>
        </p:nvSpPr>
        <p:spPr bwMode="auto">
          <a:xfrm>
            <a:off x="1469922" y="1399725"/>
            <a:ext cx="10171471"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1.User: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person interacting with the system. They provide input through an image or webcam.</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2. Image or Webcam Input: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raw data provided by the user for analysis or prediction.</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3. Data Preprocessing: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input data undergoes preprocessing to prepare it for the model. This step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may include resizing, normalization, feature extraction, or other transformations.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4. Model: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 core of the system, which could be a neural network or other machine learning model. It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processes the preprocessed data to generate predictions.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5. Pretrained Model:</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A model that has already been trained on a dataset, serving as a starting point. It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provides initial knowledge for the task.</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6. Weights: </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These are the parameters of the model that are adjusted during training. They play a crucial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role in determining the model's performance.</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7. dm (Deep Model):</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This could represent the deep learning model being used, incorporating the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pretrained model and its updated weights.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8. Prediction:</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The final output or decision made by the model based on the processed input data.</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9. UI (User Interface):</a:t>
            </a: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 The interface through which the user interacts with the system and receives </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rPr>
              <a:t>predictions.</a:t>
            </a: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371600" y="685800"/>
            <a:ext cx="9601200" cy="577850"/>
          </a:xfrm>
        </p:spPr>
        <p:txBody>
          <a:bodyPr>
            <a:normAutofit fontScale="90000"/>
          </a:bodyPr>
          <a:lstStyle/>
          <a:p>
            <a:pPr algn="ctr"/>
            <a:r>
              <a:rPr lang="en-US" altLang="en-IN" dirty="0">
                <a:latin typeface="Times New Roman Regular" panose="02020503050405090304" charset="0"/>
                <a:cs typeface="Times New Roman Regular" panose="02020503050405090304" charset="0"/>
              </a:rPr>
              <a:t>Flowchart </a:t>
            </a:r>
            <a:endParaRPr lang="en-US" altLang="en-IN" dirty="0">
              <a:latin typeface="Times New Roman Regular" panose="02020503050405090304" charset="0"/>
              <a:cs typeface="Times New Roman Regular" panose="02020503050405090304" charset="0"/>
            </a:endParaRPr>
          </a:p>
        </p:txBody>
      </p:sp>
      <p:pic>
        <p:nvPicPr>
          <p:cNvPr id="3" name="Content Placeholder 2" descr="WhatsApp Image 2025-01-17 at 21.09.49"/>
          <p:cNvPicPr>
            <a:picLocks noChangeAspect="1"/>
          </p:cNvPicPr>
          <p:nvPr>
            <p:ph sz="half" idx="2"/>
          </p:nvPr>
        </p:nvPicPr>
        <p:blipFill>
          <a:blip r:embed="rId1"/>
          <a:stretch>
            <a:fillRect/>
          </a:stretch>
        </p:blipFill>
        <p:spPr>
          <a:xfrm>
            <a:off x="4450715" y="1953260"/>
            <a:ext cx="3442335" cy="3581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Times New Roman" panose="02020503050405090304" pitchFamily="18" charset="0"/>
                <a:cs typeface="Times New Roman" panose="02020503050405090304" pitchFamily="18" charset="0"/>
              </a:rPr>
              <a:t>Results</a:t>
            </a:r>
            <a:endParaRPr lang="en-IN" dirty="0">
              <a:latin typeface="Times New Roman" panose="02020503050405090304" pitchFamily="18" charset="0"/>
              <a:cs typeface="Times New Roman" panose="02020503050405090304" pitchFamily="18" charset="0"/>
            </a:endParaRPr>
          </a:p>
        </p:txBody>
      </p:sp>
      <p:sp>
        <p:nvSpPr>
          <p:cNvPr id="9" name="Text Placeholder 8"/>
          <p:cNvSpPr>
            <a:spLocks noGrp="1"/>
          </p:cNvSpPr>
          <p:nvPr>
            <p:ph type="body" idx="1"/>
          </p:nvPr>
        </p:nvSpPr>
        <p:spPr>
          <a:xfrm>
            <a:off x="1359122" y="1516952"/>
            <a:ext cx="4443984" cy="823912"/>
          </a:xfrm>
        </p:spPr>
        <p:txBody>
          <a:bodyPr/>
          <a:lstStyle/>
          <a:p>
            <a:pPr algn="ctr"/>
            <a:r>
              <a:rPr lang="en-US" dirty="0">
                <a:latin typeface="Times New Roman" panose="02020503050405090304" pitchFamily="18" charset="0"/>
                <a:cs typeface="Times New Roman" panose="02020503050405090304" pitchFamily="18" charset="0"/>
              </a:rPr>
              <a:t>Home Page</a:t>
            </a:r>
            <a:endParaRPr lang="en-IN" dirty="0">
              <a:latin typeface="Times New Roman" panose="02020503050405090304" pitchFamily="18" charset="0"/>
              <a:cs typeface="Times New Roman" panose="02020503050405090304" pitchFamily="18" charset="0"/>
            </a:endParaRPr>
          </a:p>
        </p:txBody>
      </p:sp>
      <p:sp>
        <p:nvSpPr>
          <p:cNvPr id="10" name="Text Placeholder 9"/>
          <p:cNvSpPr>
            <a:spLocks noGrp="1"/>
          </p:cNvSpPr>
          <p:nvPr>
            <p:ph type="body" sz="quarter" idx="3"/>
          </p:nvPr>
        </p:nvSpPr>
        <p:spPr>
          <a:xfrm>
            <a:off x="6524625" y="1590675"/>
            <a:ext cx="4443984" cy="823912"/>
          </a:xfrm>
        </p:spPr>
        <p:txBody>
          <a:bodyPr/>
          <a:lstStyle/>
          <a:p>
            <a:pPr algn="ctr"/>
            <a:r>
              <a:rPr lang="en-US" dirty="0">
                <a:latin typeface="Times New Roman" panose="02020503050405090304" pitchFamily="18" charset="0"/>
                <a:cs typeface="Times New Roman" panose="02020503050405090304" pitchFamily="18" charset="0"/>
              </a:rPr>
              <a:t>Predict Page</a:t>
            </a:r>
            <a:endParaRPr lang="en-IN" dirty="0">
              <a:latin typeface="Times New Roman" panose="02020503050405090304" pitchFamily="18" charset="0"/>
              <a:cs typeface="Times New Roman" panose="02020503050405090304" pitchFamily="18" charset="0"/>
            </a:endParaRPr>
          </a:p>
        </p:txBody>
      </p:sp>
      <p:sp>
        <p:nvSpPr>
          <p:cNvPr id="3" name="Content Placeholder 2"/>
          <p:cNvSpPr/>
          <p:nvPr>
            <p:ph sz="half" idx="2"/>
          </p:nvPr>
        </p:nvSpPr>
        <p:spPr/>
        <p:txBody>
          <a:bodyPr/>
          <a:p>
            <a:endParaRPr lang="en-US"/>
          </a:p>
        </p:txBody>
      </p:sp>
      <p:sp>
        <p:nvSpPr>
          <p:cNvPr id="4" name="Content Placeholder 3"/>
          <p:cNvSpPr/>
          <p:nvPr>
            <p:ph sz="quarter" idx="4"/>
          </p:nvPr>
        </p:nvSpPr>
        <p:spPr/>
        <p:txBody>
          <a:bodyPr/>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3"/>
          </p:nvPr>
        </p:nvSpPr>
        <p:spPr>
          <a:xfrm>
            <a:off x="3844925" y="492125"/>
            <a:ext cx="4912995" cy="1212850"/>
          </a:xfrm>
        </p:spPr>
        <p:txBody>
          <a:bodyPr/>
          <a:lstStyle/>
          <a:p>
            <a:pPr algn="ctr"/>
            <a:r>
              <a:rPr lang="en-US" sz="4400" dirty="0">
                <a:latin typeface="Times New Roman" panose="02020503050405090304" pitchFamily="18" charset="0"/>
                <a:cs typeface="Times New Roman" panose="02020503050405090304" pitchFamily="18" charset="0"/>
              </a:rPr>
              <a:t>Output</a:t>
            </a:r>
            <a:r>
              <a:rPr lang="en-US" dirty="0">
                <a:latin typeface="Times New Roman" panose="02020503050405090304" pitchFamily="18" charset="0"/>
                <a:cs typeface="Times New Roman" panose="02020503050405090304" pitchFamily="18" charset="0"/>
              </a:rPr>
              <a:t> </a:t>
            </a:r>
            <a:endParaRPr lang="en-IN" dirty="0"/>
          </a:p>
        </p:txBody>
      </p:sp>
      <p:pic>
        <p:nvPicPr>
          <p:cNvPr id="4" name="Content Placeholder 3" descr="WhatsApp Image 2025-01-17 at 21.11.46"/>
          <p:cNvPicPr>
            <a:picLocks noChangeAspect="1"/>
          </p:cNvPicPr>
          <p:nvPr>
            <p:ph sz="half" idx="2"/>
          </p:nvPr>
        </p:nvPicPr>
        <p:blipFill>
          <a:blip r:embed="rId1"/>
          <a:stretch>
            <a:fillRect/>
          </a:stretch>
        </p:blipFill>
        <p:spPr>
          <a:xfrm>
            <a:off x="1868170" y="2506345"/>
            <a:ext cx="3289300" cy="2463800"/>
          </a:xfrm>
          <a:prstGeom prst="rect">
            <a:avLst/>
          </a:prstGeom>
        </p:spPr>
      </p:pic>
      <p:pic>
        <p:nvPicPr>
          <p:cNvPr id="7" name="Content Placeholder 6" descr="WhatsApp Image 2025-01-17 at 21.11.26"/>
          <p:cNvPicPr>
            <a:picLocks noChangeAspect="1"/>
          </p:cNvPicPr>
          <p:nvPr>
            <p:ph sz="quarter" idx="4"/>
          </p:nvPr>
        </p:nvPicPr>
        <p:blipFill>
          <a:blip r:embed="rId2"/>
          <a:stretch>
            <a:fillRect/>
          </a:stretch>
        </p:blipFill>
        <p:spPr>
          <a:xfrm>
            <a:off x="6912610" y="2506345"/>
            <a:ext cx="3530600" cy="2298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1257300" y="965200"/>
            <a:ext cx="4558030" cy="823595"/>
          </a:xfrm>
        </p:spPr>
        <p:txBody>
          <a:bodyPr/>
          <a:lstStyle/>
          <a:p>
            <a:pPr algn="l"/>
            <a:r>
              <a:rPr lang="en-US" dirty="0">
                <a:latin typeface="Times New Roman" panose="02020503050405090304" pitchFamily="18" charset="0"/>
                <a:cs typeface="Times New Roman" panose="02020503050405090304" pitchFamily="18" charset="0"/>
              </a:rPr>
              <a:t>Advantages</a:t>
            </a:r>
            <a:endParaRPr lang="en-IN" dirty="0">
              <a:latin typeface="Times New Roman" panose="02020503050405090304" pitchFamily="18" charset="0"/>
              <a:cs typeface="Times New Roman" panose="02020503050405090304" pitchFamily="18" charset="0"/>
            </a:endParaRPr>
          </a:p>
        </p:txBody>
      </p:sp>
      <p:sp>
        <p:nvSpPr>
          <p:cNvPr id="11" name="Text Placeholder 10"/>
          <p:cNvSpPr>
            <a:spLocks noGrp="1"/>
          </p:cNvSpPr>
          <p:nvPr>
            <p:ph type="body" sz="quarter" idx="3"/>
          </p:nvPr>
        </p:nvSpPr>
        <p:spPr>
          <a:xfrm>
            <a:off x="6410960" y="1089660"/>
            <a:ext cx="4558030" cy="823595"/>
          </a:xfrm>
        </p:spPr>
        <p:txBody>
          <a:bodyPr/>
          <a:lstStyle/>
          <a:p>
            <a:pPr algn="l"/>
            <a:r>
              <a:rPr lang="en-US" dirty="0">
                <a:latin typeface="Times New Roman" panose="02020503050405090304" pitchFamily="18" charset="0"/>
                <a:cs typeface="Times New Roman" panose="02020503050405090304" pitchFamily="18" charset="0"/>
              </a:rPr>
              <a:t>Disadvantages</a:t>
            </a:r>
            <a:endParaRPr lang="en-IN" dirty="0">
              <a:latin typeface="Times New Roman" panose="02020503050405090304" pitchFamily="18" charset="0"/>
              <a:cs typeface="Times New Roman" panose="02020503050405090304" pitchFamily="18" charset="0"/>
            </a:endParaRPr>
          </a:p>
        </p:txBody>
      </p:sp>
      <p:sp>
        <p:nvSpPr>
          <p:cNvPr id="13" name="Rectangle 2"/>
          <p:cNvSpPr>
            <a:spLocks noGrp="1" noChangeArrowheads="1"/>
          </p:cNvSpPr>
          <p:nvPr>
            <p:ph sz="half" idx="2"/>
          </p:nvPr>
        </p:nvSpPr>
        <p:spPr bwMode="auto">
          <a:xfrm>
            <a:off x="1257424" y="2120363"/>
            <a:ext cx="3877310" cy="221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High Accuracy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Real-time Performance</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Robustness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scalability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Minimal Human Intervention</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
        <p:nvSpPr>
          <p:cNvPr id="14" name="Rectangle 3"/>
          <p:cNvSpPr>
            <a:spLocks noGrp="1" noChangeArrowheads="1"/>
          </p:cNvSpPr>
          <p:nvPr>
            <p:ph sz="quarter" idx="4"/>
          </p:nvPr>
        </p:nvSpPr>
        <p:spPr bwMode="auto">
          <a:xfrm>
            <a:off x="6410858" y="2120361"/>
            <a:ext cx="4029710" cy="221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Bias and fairness issues</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Ethical concerns </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Data Dependency</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Ambiguities in gender and age</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rPr>
              <a:t>computational cost</a:t>
            </a:r>
            <a:endParaRPr kumimoji="0" lang="en-US" altLang="en-US" sz="2400" b="0" i="0" u="none" strike="noStrike" cap="none" normalizeH="0" baseline="0" dirty="0">
              <a:ln>
                <a:noFill/>
              </a:ln>
              <a:solidFill>
                <a:schemeClr val="tx1"/>
              </a:solidFill>
              <a:effectLst/>
              <a:latin typeface="Times New Roman" panose="02020503050405090304" pitchFamily="18" charset="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503050405090304" pitchFamily="18" charset="0"/>
                <a:cs typeface="Times New Roman" panose="02020503050405090304" pitchFamily="18" charset="0"/>
              </a:rPr>
              <a:t>Conclusion</a:t>
            </a:r>
            <a:endParaRPr lang="en-IN" dirty="0">
              <a:latin typeface="Times New Roman" panose="02020503050405090304" pitchFamily="18" charset="0"/>
              <a:cs typeface="Times New Roman" panose="02020503050405090304" pitchFamily="18" charset="0"/>
            </a:endParaRPr>
          </a:p>
        </p:txBody>
      </p:sp>
      <p:sp>
        <p:nvSpPr>
          <p:cNvPr id="7" name="Content Placeholder 6"/>
          <p:cNvSpPr>
            <a:spLocks noGrp="1"/>
          </p:cNvSpPr>
          <p:nvPr>
            <p:ph idx="1"/>
          </p:nvPr>
        </p:nvSpPr>
        <p:spPr/>
        <p:txBody>
          <a:bodyPr>
            <a:noAutofit/>
          </a:bodyPr>
          <a:lstStyle/>
          <a:p>
            <a:pPr marL="0" indent="0" algn="just">
              <a:buNone/>
            </a:pPr>
            <a:r>
              <a:rPr lang="en-US" dirty="0">
                <a:latin typeface="Times New Roman" panose="02020503050405090304" pitchFamily="18" charset="0"/>
                <a:cs typeface="Times New Roman" panose="02020503050405090304" pitchFamily="18" charset="0"/>
              </a:rPr>
              <a:t>The </a:t>
            </a:r>
            <a:r>
              <a:rPr lang="en-US" altLang="en-US" dirty="0">
                <a:latin typeface="Times New Roman" panose="02020503050405090304" pitchFamily="18" charset="0"/>
                <a:cs typeface="Times New Roman" panose="02020503050405090304" pitchFamily="18" charset="0"/>
              </a:rPr>
              <a:t>Age and Gender Detection using Deep Learning system, we successfully laid the foundation for a robust and scalable solution to the problem of automatic age and gender classification from facial images. The project effectively integrates cutting-edge deep learning techniques to offer accurate predictions, leveraging the strengths of Convolutional Neural Networks (CNNs) for feature extraction and transformer-based architectures or Long Short-Term Memory (LSTM)networks for contextual understanding. The ability of these models to learn hierarchical features from facial images and process them for accurate classification is crucial in tackling age and gender prediction tasks.</a:t>
            </a:r>
            <a:endParaRPr lang="en-US" altLang="en-US" dirty="0">
              <a:latin typeface="Times New Roman" panose="02020503050405090304" pitchFamily="18" charset="0"/>
              <a:cs typeface="Times New Roman" panose="02020503050405090304" pitchFamily="18" charset="0"/>
            </a:endParaRPr>
          </a:p>
          <a:p>
            <a:pPr marL="0" indent="0">
              <a:buNone/>
            </a:pPr>
            <a:endParaRPr lang="en-US" altLang="en-US" sz="11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445774"/>
            <a:ext cx="9601200" cy="1485900"/>
          </a:xfrm>
        </p:spPr>
        <p:txBody>
          <a:bodyPr>
            <a:normAutofit/>
          </a:bodyPr>
          <a:lstStyle/>
          <a:p>
            <a:pPr algn="ctr"/>
            <a:r>
              <a:rPr lang="en-US" sz="6600" dirty="0">
                <a:latin typeface="Times New Roman" panose="02020503050405090304" pitchFamily="18" charset="0"/>
                <a:cs typeface="Times New Roman" panose="02020503050405090304" pitchFamily="18" charset="0"/>
              </a:rPr>
              <a:t>Thank You</a:t>
            </a:r>
            <a:endParaRPr lang="en-IN" sz="6600" dirty="0">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{E122B7FD-344B-4EB0-89C9-69A609AF0A74}tf10001105</Template>
  <TotalTime>0</TotalTime>
  <Words>5749</Words>
  <Application>WPS Presentation</Application>
  <PresentationFormat>Widescreen</PresentationFormat>
  <Paragraphs>96</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Franklin Gothic Book</vt:lpstr>
      <vt:lpstr>苹方-简</vt:lpstr>
      <vt:lpstr>Times New Roman</vt:lpstr>
      <vt:lpstr>Microsoft YaHei</vt:lpstr>
      <vt:lpstr>汉仪旗黑</vt:lpstr>
      <vt:lpstr>Arial Unicode MS</vt:lpstr>
      <vt:lpstr>Calibri</vt:lpstr>
      <vt:lpstr>Helvetica Neue</vt:lpstr>
      <vt:lpstr>宋体-简</vt:lpstr>
      <vt:lpstr>汉仪书宋二KW</vt:lpstr>
      <vt:lpstr>Tiro Bangla Regular</vt:lpstr>
      <vt:lpstr>Times New Roman Regular</vt:lpstr>
      <vt:lpstr>Apple Braille Outline 6 Dot</vt:lpstr>
      <vt:lpstr>Times New Roman Bold</vt:lpstr>
      <vt:lpstr>Crop</vt:lpstr>
      <vt:lpstr>     VAAGDEVI ENGINEERING COLLEGE  AFFILIATED TO JNTUH, Hyderabad BOLLIKUNTA,WARANGAL(T.S)-505005    MINI PROJECT  REPORT  AIR QUALITY INDEX ANALYZER USING ML Under the Guidance of Mrs. R. Swathi Presented by ERRABOINA SHESHIKUMAR   (21UK1A6614) BODHIREDDY NIDHIREDDY    (21UK1A6658) ADABOINA SHIVA                       (21UK1A6646) SAKINALA  SAI PRIYA                (21UK1A6629)      </vt:lpstr>
      <vt:lpstr>PowerPoint 演示文稿</vt:lpstr>
      <vt:lpstr>INTRODUCTION </vt:lpstr>
      <vt:lpstr>Why is AQI Important?</vt:lpstr>
      <vt:lpstr>Problem Statement</vt:lpstr>
      <vt:lpstr>Proposed Solution</vt:lpstr>
      <vt:lpstr>BLOCK DIAGRAM</vt:lpstr>
      <vt:lpstr>Methodology</vt:lpstr>
      <vt:lpstr>PowerPoint 演示文稿</vt:lpstr>
      <vt:lpstr>Results</vt:lpstr>
      <vt:lpstr>PowerPoint 演示文稿</vt:lpstr>
      <vt:lpstr>PowerPoint 演示文稿</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kumar</dc:creator>
  <cp:lastModifiedBy>rathlavenkatesh</cp:lastModifiedBy>
  <cp:revision>17</cp:revision>
  <dcterms:created xsi:type="dcterms:W3CDTF">2025-03-26T18:41:29Z</dcterms:created>
  <dcterms:modified xsi:type="dcterms:W3CDTF">2025-03-26T18:41:29Z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51372DEBE076DCF8594AE4672581B047_43</vt:lpwstr>
  </property>
  <property fmtid="{D5CDD505-2E9C-101B-9397-08002B2CF9AE}" pid="3" name="KSOProductBuildVer">
    <vt:lpwstr>1033-6.11.0.8608</vt:lpwstr>
  </property>
</Properties>
</file>